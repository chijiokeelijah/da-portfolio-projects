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9"/>
  </p:notesMasterIdLst>
  <p:sldIdLst>
    <p:sldId id="256" r:id="rId2"/>
    <p:sldId id="257" r:id="rId3"/>
    <p:sldId id="261" r:id="rId4"/>
    <p:sldId id="259" r:id="rId5"/>
    <p:sldId id="264" r:id="rId6"/>
    <p:sldId id="263" r:id="rId7"/>
    <p:sldId id="262" r:id="rId8"/>
    <p:sldId id="265" r:id="rId9"/>
    <p:sldId id="267" r:id="rId10"/>
    <p:sldId id="268" r:id="rId11"/>
    <p:sldId id="269" r:id="rId12"/>
    <p:sldId id="266" r:id="rId13"/>
    <p:sldId id="270" r:id="rId14"/>
    <p:sldId id="258" r:id="rId15"/>
    <p:sldId id="271" r:id="rId16"/>
    <p:sldId id="272"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33"/>
    <a:srgbClr val="152A00"/>
    <a:srgbClr val="4E0233"/>
    <a:srgbClr val="1D3A00"/>
    <a:srgbClr val="00CC99"/>
    <a:srgbClr val="66FFCC"/>
    <a:srgbClr val="FE9202"/>
    <a:srgbClr val="CC0099"/>
    <a:srgbClr val="6C1A00"/>
    <a:srgbClr val="E7FF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786" y="48"/>
      </p:cViewPr>
      <p:guideLst>
        <p:guide orient="horz" pos="1620"/>
        <p:guide pos="2880"/>
        <p:guide orient="horz" pos="216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12/8/2024</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dirty="0"/>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F533E96-F078-4B3D-A8F4-F1AF21EBC357}" type="slidenum">
              <a:rPr lang="en-US" smtClean="0"/>
              <a:t>6</a:t>
            </a:fld>
            <a:endParaRPr lang="en-US" dirty="0"/>
          </a:p>
        </p:txBody>
      </p:sp>
    </p:spTree>
    <p:extLst>
      <p:ext uri="{BB962C8B-B14F-4D97-AF65-F5344CB8AC3E}">
        <p14:creationId xmlns:p14="http://schemas.microsoft.com/office/powerpoint/2010/main" val="40945734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l="-15000" r="-15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54375" y="2003753"/>
            <a:ext cx="7635250" cy="1221640"/>
          </a:xfrm>
          <a:noFill/>
          <a:effectLst>
            <a:outerShdw blurRad="50800" dist="38100" dir="2700000" algn="tl" rotWithShape="0">
              <a:prstClr val="black">
                <a:alpha val="40000"/>
              </a:prstClr>
            </a:outerShdw>
          </a:effectLst>
        </p:spPr>
        <p:txBody>
          <a:bodyPr>
            <a:normAutofit/>
          </a:bodyPr>
          <a:lstStyle>
            <a:lvl1pPr algn="ctr">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754375" y="3225394"/>
            <a:ext cx="7635250" cy="1018033"/>
          </a:xfrm>
        </p:spPr>
        <p:txBody>
          <a:bodyPr>
            <a:normAutofit/>
          </a:bodyPr>
          <a:lstStyle>
            <a:lvl1pPr marL="0" indent="0" algn="ctr">
              <a:buNone/>
              <a:defRPr sz="2800" b="0" i="0">
                <a:solidFill>
                  <a:srgbClr val="92D05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1392934"/>
            <a:ext cx="8246070" cy="1018033"/>
          </a:xfrm>
        </p:spPr>
        <p:txBody>
          <a:bodyPr>
            <a:normAutofit/>
          </a:bodyPr>
          <a:lstStyle>
            <a:lvl1pPr algn="ctr">
              <a:defRPr sz="3600" baseline="0">
                <a:solidFill>
                  <a:srgbClr val="92D05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5" y="2410967"/>
            <a:ext cx="8246070" cy="3868528"/>
          </a:xfrm>
        </p:spPr>
        <p:txBody>
          <a:bodyPr/>
          <a:lstStyle>
            <a:lvl1pPr algn="ctr">
              <a:defRPr sz="2800">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l="-30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8889" y="578507"/>
            <a:ext cx="6934506" cy="967132"/>
          </a:xfrm>
        </p:spPr>
        <p:txBody>
          <a:bodyPr>
            <a:normAutofit/>
          </a:bodyPr>
          <a:lstStyle>
            <a:lvl1pPr algn="l">
              <a:defRPr sz="3600">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538889" y="1596541"/>
            <a:ext cx="6934506" cy="4681415"/>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5" y="1596541"/>
            <a:ext cx="8246070" cy="1018033"/>
          </a:xfrm>
        </p:spPr>
        <p:txBody>
          <a:bodyPr>
            <a:normAutofit/>
          </a:bodyPr>
          <a:lstStyle>
            <a:lvl1pPr algn="ctr">
              <a:defRPr sz="3600" baseline="0">
                <a:solidFill>
                  <a:srgbClr val="92D05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2595531"/>
            <a:ext cx="4040188" cy="639763"/>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3225393"/>
            <a:ext cx="4040188" cy="3035059"/>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1" y="2595531"/>
            <a:ext cx="4041775" cy="639763"/>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1" y="3225393"/>
            <a:ext cx="4041775" cy="3035059"/>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pic>
        <p:nvPicPr>
          <p:cNvPr id="205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840163" y="3167063"/>
            <a:ext cx="14636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l="-15000" r="-15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12/8/2024</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dirty="0"/>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6951663"/>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74097" y="2054655"/>
            <a:ext cx="7635250" cy="1221640"/>
          </a:xfrm>
        </p:spPr>
        <p:txBody>
          <a:bodyPr>
            <a:noAutofit/>
          </a:bodyPr>
          <a:lstStyle/>
          <a:p>
            <a:r>
              <a:rPr lang="en-US" dirty="0"/>
              <a:t> </a:t>
            </a:r>
            <a:r>
              <a:rPr lang="en-GB" dirty="0"/>
              <a:t>COVID-19 PANDEMIC SPREAD ANALYSIS</a:t>
            </a:r>
            <a:endParaRPr lang="en-US" dirty="0"/>
          </a:p>
        </p:txBody>
      </p:sp>
      <p:sp>
        <p:nvSpPr>
          <p:cNvPr id="3" name="Subtitle 2"/>
          <p:cNvSpPr>
            <a:spLocks noGrp="1"/>
          </p:cNvSpPr>
          <p:nvPr>
            <p:ph type="subTitle" idx="1"/>
          </p:nvPr>
        </p:nvSpPr>
        <p:spPr>
          <a:xfrm>
            <a:off x="754375" y="3123590"/>
            <a:ext cx="7635250" cy="1018033"/>
          </a:xfrm>
        </p:spPr>
        <p:txBody>
          <a:bodyPr/>
          <a:lstStyle/>
          <a:p>
            <a:r>
              <a:rPr lang="en-US" sz="2800" dirty="0"/>
              <a:t>A Data-Driven Exploration of COVID-19 Spread, Doubling Rates, and Mortality Trends by Country.</a:t>
            </a:r>
          </a:p>
          <a:p>
            <a:endParaRPr lang="en-US" dirty="0"/>
          </a:p>
        </p:txBody>
      </p:sp>
      <p:sp>
        <p:nvSpPr>
          <p:cNvPr id="5" name="TextBox 4">
            <a:extLst>
              <a:ext uri="{FF2B5EF4-FFF2-40B4-BE49-F238E27FC236}">
                <a16:creationId xmlns:a16="http://schemas.microsoft.com/office/drawing/2014/main" id="{AC749E75-416F-4F53-B001-E68220867FBB}"/>
              </a:ext>
            </a:extLst>
          </p:cNvPr>
          <p:cNvSpPr txBox="1"/>
          <p:nvPr/>
        </p:nvSpPr>
        <p:spPr>
          <a:xfrm>
            <a:off x="296259" y="6024985"/>
            <a:ext cx="5039265" cy="707886"/>
          </a:xfrm>
          <a:prstGeom prst="rect">
            <a:avLst/>
          </a:prstGeom>
          <a:noFill/>
        </p:spPr>
        <p:txBody>
          <a:bodyPr wrap="square">
            <a:spAutoFit/>
          </a:bodyPr>
          <a:lstStyle/>
          <a:p>
            <a:r>
              <a:rPr lang="en-US" sz="2000" b="1" dirty="0">
                <a:solidFill>
                  <a:schemeClr val="bg1"/>
                </a:solidFill>
              </a:rPr>
              <a:t>Presented by: Group 6 (Healthcare)</a:t>
            </a:r>
          </a:p>
          <a:p>
            <a:r>
              <a:rPr lang="en-US" sz="2000" b="1" dirty="0">
                <a:solidFill>
                  <a:schemeClr val="bg1"/>
                </a:solidFill>
              </a:rPr>
              <a:t>November, 2024.</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1443835"/>
            <a:ext cx="8246070" cy="779682"/>
          </a:xfrm>
        </p:spPr>
        <p:txBody>
          <a:bodyPr/>
          <a:lstStyle/>
          <a:p>
            <a:r>
              <a:rPr lang="en-GB" dirty="0"/>
              <a:t>PROJECT OVERVIEW</a:t>
            </a:r>
            <a:endParaRPr lang="en-US" dirty="0"/>
          </a:p>
        </p:txBody>
      </p:sp>
      <p:sp>
        <p:nvSpPr>
          <p:cNvPr id="3" name="Content Placeholder 2"/>
          <p:cNvSpPr>
            <a:spLocks noGrp="1"/>
          </p:cNvSpPr>
          <p:nvPr>
            <p:ph idx="1"/>
          </p:nvPr>
        </p:nvSpPr>
        <p:spPr>
          <a:xfrm>
            <a:off x="495602" y="2223517"/>
            <a:ext cx="8246070" cy="4447033"/>
          </a:xfrm>
        </p:spPr>
        <p:txBody>
          <a:bodyPr>
            <a:normAutofit/>
          </a:bodyPr>
          <a:lstStyle/>
          <a:p>
            <a:pPr algn="l">
              <a:buFont typeface="Wingdings" panose="05000000000000000000" pitchFamily="2" charset="2"/>
              <a:buChar char="q"/>
            </a:pPr>
            <a:r>
              <a:rPr lang="en-US" dirty="0"/>
              <a:t>INTRODUCTION</a:t>
            </a:r>
          </a:p>
          <a:p>
            <a:pPr algn="l">
              <a:buFont typeface="Wingdings" panose="05000000000000000000" pitchFamily="2" charset="2"/>
              <a:buChar char="q"/>
            </a:pPr>
            <a:r>
              <a:rPr lang="en-US" dirty="0"/>
              <a:t>OBJECTIVES</a:t>
            </a:r>
          </a:p>
          <a:p>
            <a:pPr algn="l">
              <a:buFont typeface="Wingdings" panose="05000000000000000000" pitchFamily="2" charset="2"/>
              <a:buChar char="q"/>
            </a:pPr>
            <a:r>
              <a:rPr lang="en-US" dirty="0"/>
              <a:t>KEY INSIGHTS</a:t>
            </a:r>
          </a:p>
          <a:p>
            <a:pPr algn="l">
              <a:buFont typeface="Wingdings" panose="05000000000000000000" pitchFamily="2" charset="2"/>
              <a:buChar char="q"/>
            </a:pPr>
            <a:r>
              <a:rPr lang="en-US" dirty="0"/>
              <a:t>METHODOLOGY</a:t>
            </a:r>
          </a:p>
          <a:p>
            <a:pPr algn="l">
              <a:buFont typeface="Wingdings" panose="05000000000000000000" pitchFamily="2" charset="2"/>
              <a:buChar char="q"/>
            </a:pPr>
            <a:r>
              <a:rPr lang="en-US" dirty="0"/>
              <a:t>RESEARCH QUESTIONS</a:t>
            </a:r>
          </a:p>
          <a:p>
            <a:pPr algn="l">
              <a:buFont typeface="Wingdings" panose="05000000000000000000" pitchFamily="2" charset="2"/>
              <a:buChar char="q"/>
            </a:pPr>
            <a:r>
              <a:rPr lang="en-US" dirty="0"/>
              <a:t>ANALYSIS &amp; VISUALIZATION</a:t>
            </a:r>
          </a:p>
          <a:p>
            <a:pPr algn="l">
              <a:buFont typeface="Wingdings" panose="05000000000000000000" pitchFamily="2" charset="2"/>
              <a:buChar char="q"/>
            </a:pPr>
            <a:r>
              <a:rPr lang="en-US" dirty="0"/>
              <a:t>SUMMARY OF KEY FINDINGS</a:t>
            </a:r>
          </a:p>
          <a:p>
            <a:pPr algn="l">
              <a:buFont typeface="Wingdings" panose="05000000000000000000" pitchFamily="2" charset="2"/>
              <a:buChar char="q"/>
            </a:pPr>
            <a:r>
              <a:rPr lang="en-US" dirty="0"/>
              <a:t>CONCLUSION &amp; RECOMMENDATIONS</a:t>
            </a:r>
          </a:p>
          <a:p>
            <a:pPr algn="l"/>
            <a:endParaRPr lang="en-US" dirty="0"/>
          </a:p>
          <a:p>
            <a:pPr algn="l"/>
            <a:endParaRPr lang="en-US" dirty="0"/>
          </a:p>
          <a:p>
            <a:pPr algn="l"/>
            <a:endParaRPr lang="en-US" dirty="0"/>
          </a:p>
          <a:p>
            <a:pPr algn="l"/>
            <a:endParaRPr lang="en-US" dirty="0"/>
          </a:p>
          <a:p>
            <a:endParaRPr lang="en-US" dirty="0"/>
          </a:p>
          <a:p>
            <a:endParaRPr lang="en-US" dirty="0"/>
          </a:p>
        </p:txBody>
      </p:sp>
    </p:spTree>
    <p:extLst>
      <p:ext uri="{BB962C8B-B14F-4D97-AF65-F5344CB8AC3E}">
        <p14:creationId xmlns:p14="http://schemas.microsoft.com/office/powerpoint/2010/main" val="41033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6BF8-F990-438A-A0E0-9A6783B5B702}"/>
              </a:ext>
            </a:extLst>
          </p:cNvPr>
          <p:cNvSpPr>
            <a:spLocks noGrp="1"/>
          </p:cNvSpPr>
          <p:nvPr>
            <p:ph type="title"/>
          </p:nvPr>
        </p:nvSpPr>
        <p:spPr>
          <a:xfrm>
            <a:off x="448965" y="1443835"/>
            <a:ext cx="8246070" cy="814426"/>
          </a:xfrm>
        </p:spPr>
        <p:txBody>
          <a:bodyPr/>
          <a:lstStyle/>
          <a:p>
            <a:r>
              <a:rPr lang="en-GB" dirty="0"/>
              <a:t>INTRODUCTION</a:t>
            </a:r>
          </a:p>
        </p:txBody>
      </p:sp>
      <p:sp>
        <p:nvSpPr>
          <p:cNvPr id="7" name="Content Placeholder 2">
            <a:extLst>
              <a:ext uri="{FF2B5EF4-FFF2-40B4-BE49-F238E27FC236}">
                <a16:creationId xmlns:a16="http://schemas.microsoft.com/office/drawing/2014/main" id="{59FA263E-8D79-4E03-9497-4DEE4B1F1D99}"/>
              </a:ext>
            </a:extLst>
          </p:cNvPr>
          <p:cNvSpPr>
            <a:spLocks noGrp="1"/>
          </p:cNvSpPr>
          <p:nvPr>
            <p:ph idx="1"/>
          </p:nvPr>
        </p:nvSpPr>
        <p:spPr>
          <a:xfrm>
            <a:off x="449560" y="2512769"/>
            <a:ext cx="8245475" cy="4192525"/>
          </a:xfrm>
        </p:spPr>
        <p:txBody>
          <a:bodyPr>
            <a:noAutofit/>
          </a:bodyPr>
          <a:lstStyle/>
          <a:p>
            <a:pPr marL="0" indent="0" algn="just">
              <a:lnSpc>
                <a:spcPct val="160000"/>
              </a:lnSpc>
              <a:buNone/>
            </a:pPr>
            <a:r>
              <a:rPr lang="en-US" sz="1800" dirty="0"/>
              <a:t>The COVID-19 pandemic brought unprecedented challenges worldwide, rapidly transforming health systems, economies, and daily life as we knew it. In its early stages, understanding the mechanisms and doubling times became critical for formulating effective containment and mitigation strategies. Our findings and recommendations includes; early containment measures are crucial, rapid health infrastructure response to avoid high mortality onset and real-time data monitoring to predict doubling rates.</a:t>
            </a:r>
          </a:p>
          <a:p>
            <a:pPr marL="0" indent="0" algn="just">
              <a:lnSpc>
                <a:spcPct val="160000"/>
              </a:lnSpc>
              <a:buNone/>
            </a:pPr>
            <a:endParaRPr lang="en-US" sz="1800" dirty="0"/>
          </a:p>
          <a:p>
            <a:pPr marL="0" indent="0" algn="just">
              <a:buNone/>
            </a:pPr>
            <a:endParaRPr lang="en-US" sz="1800" dirty="0"/>
          </a:p>
          <a:p>
            <a:pPr marL="0" indent="0" algn="just">
              <a:buNone/>
            </a:pPr>
            <a:endParaRPr lang="en-US" sz="1800" dirty="0"/>
          </a:p>
        </p:txBody>
      </p:sp>
    </p:spTree>
    <p:extLst>
      <p:ext uri="{BB962C8B-B14F-4D97-AF65-F5344CB8AC3E}">
        <p14:creationId xmlns:p14="http://schemas.microsoft.com/office/powerpoint/2010/main" val="262065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6260" y="39333"/>
            <a:ext cx="6678246" cy="967132"/>
          </a:xfrm>
        </p:spPr>
        <p:txBody>
          <a:bodyPr/>
          <a:lstStyle/>
          <a:p>
            <a:pPr algn="ctr"/>
            <a:r>
              <a:rPr lang="en-US" dirty="0"/>
              <a:t>OBJECTIVES</a:t>
            </a:r>
          </a:p>
        </p:txBody>
      </p:sp>
      <p:sp>
        <p:nvSpPr>
          <p:cNvPr id="5" name="Content Placeholder 4"/>
          <p:cNvSpPr>
            <a:spLocks noGrp="1"/>
          </p:cNvSpPr>
          <p:nvPr>
            <p:ph idx="1"/>
          </p:nvPr>
        </p:nvSpPr>
        <p:spPr>
          <a:xfrm>
            <a:off x="3569" y="1138425"/>
            <a:ext cx="7024430" cy="5039264"/>
          </a:xfrm>
        </p:spPr>
        <p:txBody>
          <a:bodyPr>
            <a:normAutofit/>
          </a:bodyPr>
          <a:lstStyle/>
          <a:p>
            <a:pPr>
              <a:buFont typeface="Wingdings" panose="05000000000000000000" pitchFamily="2" charset="2"/>
              <a:buChar char="q"/>
            </a:pPr>
            <a:r>
              <a:rPr lang="en-US" dirty="0"/>
              <a:t> </a:t>
            </a:r>
            <a:r>
              <a:rPr lang="en-US" sz="2800" dirty="0"/>
              <a:t>To analyze the progression and spread of COVID-19 across countries.</a:t>
            </a:r>
          </a:p>
          <a:p>
            <a:pPr>
              <a:buFont typeface="Wingdings" panose="05000000000000000000" pitchFamily="2" charset="2"/>
              <a:buChar char="q"/>
            </a:pPr>
            <a:endParaRPr lang="en-US" sz="2800" dirty="0"/>
          </a:p>
          <a:p>
            <a:pPr>
              <a:buFont typeface="Wingdings" panose="05000000000000000000" pitchFamily="2" charset="2"/>
              <a:buChar char="q"/>
            </a:pPr>
            <a:r>
              <a:rPr lang="en-US" sz="2800" dirty="0"/>
              <a:t>Identify factors affecting initial containment.</a:t>
            </a:r>
          </a:p>
          <a:p>
            <a:pPr>
              <a:buFont typeface="Wingdings" panose="05000000000000000000" pitchFamily="2" charset="2"/>
              <a:buChar char="q"/>
            </a:pPr>
            <a:endParaRPr lang="en-US" sz="2800" dirty="0"/>
          </a:p>
          <a:p>
            <a:pPr>
              <a:buFont typeface="Wingdings" panose="05000000000000000000" pitchFamily="2" charset="2"/>
              <a:buChar char="q"/>
            </a:pPr>
            <a:r>
              <a:rPr lang="en-US" sz="2800" dirty="0"/>
              <a:t>Understand the timing of mortality rates.</a:t>
            </a:r>
          </a:p>
          <a:p>
            <a:pPr>
              <a:buFont typeface="Wingdings" panose="05000000000000000000" pitchFamily="2" charset="2"/>
              <a:buChar char="q"/>
            </a:pPr>
            <a:endParaRPr lang="en-US" sz="2800" dirty="0"/>
          </a:p>
          <a:p>
            <a:pPr>
              <a:buFont typeface="Wingdings" panose="05000000000000000000" pitchFamily="2" charset="2"/>
              <a:buChar char="q"/>
            </a:pPr>
            <a:r>
              <a:rPr lang="en-US" sz="2800" dirty="0"/>
              <a:t>To analyze total deaths and new deaths over time.</a:t>
            </a:r>
          </a:p>
          <a:p>
            <a:endParaRPr lang="en-US" dirty="0"/>
          </a:p>
        </p:txBody>
      </p:sp>
    </p:spTree>
    <p:extLst>
      <p:ext uri="{BB962C8B-B14F-4D97-AF65-F5344CB8AC3E}">
        <p14:creationId xmlns:p14="http://schemas.microsoft.com/office/powerpoint/2010/main" val="1101633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2FDE-76F2-4E81-B935-B44F0C5B9B32}"/>
              </a:ext>
            </a:extLst>
          </p:cNvPr>
          <p:cNvSpPr>
            <a:spLocks noGrp="1"/>
          </p:cNvSpPr>
          <p:nvPr>
            <p:ph type="title"/>
          </p:nvPr>
        </p:nvSpPr>
        <p:spPr>
          <a:xfrm>
            <a:off x="80774" y="0"/>
            <a:ext cx="6934506" cy="967132"/>
          </a:xfrm>
        </p:spPr>
        <p:txBody>
          <a:bodyPr/>
          <a:lstStyle/>
          <a:p>
            <a:pPr algn="ctr"/>
            <a:r>
              <a:rPr lang="en-US" dirty="0"/>
              <a:t>RESEARCH QUESTIONS</a:t>
            </a:r>
            <a:endParaRPr lang="en-GB" dirty="0"/>
          </a:p>
        </p:txBody>
      </p:sp>
      <p:sp>
        <p:nvSpPr>
          <p:cNvPr id="3" name="Content Placeholder 2">
            <a:extLst>
              <a:ext uri="{FF2B5EF4-FFF2-40B4-BE49-F238E27FC236}">
                <a16:creationId xmlns:a16="http://schemas.microsoft.com/office/drawing/2014/main" id="{B94339E5-C348-4213-B71A-601F772BE463}"/>
              </a:ext>
            </a:extLst>
          </p:cNvPr>
          <p:cNvSpPr>
            <a:spLocks noGrp="1"/>
          </p:cNvSpPr>
          <p:nvPr>
            <p:ph idx="1"/>
          </p:nvPr>
        </p:nvSpPr>
        <p:spPr>
          <a:xfrm>
            <a:off x="386184" y="1138426"/>
            <a:ext cx="6629096" cy="5497380"/>
          </a:xfrm>
        </p:spPr>
        <p:txBody>
          <a:bodyPr>
            <a:normAutofit fontScale="92500" lnSpcReduction="20000"/>
          </a:bodyPr>
          <a:lstStyle/>
          <a:p>
            <a:pPr algn="just">
              <a:lnSpc>
                <a:spcPct val="150000"/>
              </a:lnSpc>
              <a:buFont typeface="Wingdings" panose="05000000000000000000" pitchFamily="2" charset="2"/>
              <a:buChar char="q"/>
            </a:pPr>
            <a:r>
              <a:rPr lang="en-US" sz="2400" dirty="0"/>
              <a:t>How did the initial spread of COVID-19 progress in different countries?</a:t>
            </a:r>
          </a:p>
          <a:p>
            <a:pPr algn="just">
              <a:lnSpc>
                <a:spcPct val="150000"/>
              </a:lnSpc>
              <a:buFont typeface="Wingdings" panose="05000000000000000000" pitchFamily="2" charset="2"/>
              <a:buChar char="q"/>
            </a:pPr>
            <a:r>
              <a:rPr lang="en-US" sz="2400" dirty="0"/>
              <a:t>How long did it take for cases to double?</a:t>
            </a:r>
          </a:p>
          <a:p>
            <a:pPr algn="just">
              <a:lnSpc>
                <a:spcPct val="150000"/>
              </a:lnSpc>
              <a:buFont typeface="Wingdings" panose="05000000000000000000" pitchFamily="2" charset="2"/>
              <a:buChar char="q"/>
            </a:pPr>
            <a:r>
              <a:rPr lang="en-US" sz="2400" dirty="0"/>
              <a:t>Were some countries able to maintain zero or very low new cases over extended periods?</a:t>
            </a:r>
          </a:p>
          <a:p>
            <a:pPr algn="just">
              <a:lnSpc>
                <a:spcPct val="150000"/>
              </a:lnSpc>
              <a:buFont typeface="Wingdings" panose="05000000000000000000" pitchFamily="2" charset="2"/>
              <a:buChar char="q"/>
            </a:pPr>
            <a:r>
              <a:rPr lang="en-US" sz="2400" dirty="0"/>
              <a:t>How did COVID-19 spread geographically in its initial stages?</a:t>
            </a:r>
          </a:p>
          <a:p>
            <a:pPr algn="just">
              <a:lnSpc>
                <a:spcPct val="150000"/>
              </a:lnSpc>
              <a:buFont typeface="Wingdings" panose="05000000000000000000" pitchFamily="2" charset="2"/>
              <a:buChar char="q"/>
            </a:pPr>
            <a:r>
              <a:rPr lang="en-US" sz="2400" dirty="0"/>
              <a:t>Which regions saw the earliest cases?</a:t>
            </a:r>
          </a:p>
          <a:p>
            <a:pPr algn="just">
              <a:lnSpc>
                <a:spcPct val="150000"/>
              </a:lnSpc>
              <a:buFont typeface="Wingdings" panose="05000000000000000000" pitchFamily="2" charset="2"/>
              <a:buChar char="q"/>
            </a:pPr>
            <a:r>
              <a:rPr lang="en-US" sz="2400" dirty="0"/>
              <a:t>How quickly did deaths begin to appear in the reported data after initial cases, and how does this vary by country?</a:t>
            </a:r>
          </a:p>
          <a:p>
            <a:pPr marL="0" indent="0" algn="just">
              <a:lnSpc>
                <a:spcPct val="150000"/>
              </a:lnSpc>
              <a:buNone/>
            </a:pPr>
            <a:endParaRPr lang="en-GB" sz="2400" dirty="0"/>
          </a:p>
        </p:txBody>
      </p:sp>
    </p:spTree>
    <p:extLst>
      <p:ext uri="{BB962C8B-B14F-4D97-AF65-F5344CB8AC3E}">
        <p14:creationId xmlns:p14="http://schemas.microsoft.com/office/powerpoint/2010/main" val="2741671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A6E3C-E6CF-4568-9E43-A9EDEA49AB7B}"/>
              </a:ext>
            </a:extLst>
          </p:cNvPr>
          <p:cNvSpPr>
            <a:spLocks noGrp="1"/>
          </p:cNvSpPr>
          <p:nvPr>
            <p:ph type="title"/>
          </p:nvPr>
        </p:nvSpPr>
        <p:spPr>
          <a:xfrm>
            <a:off x="0" y="29628"/>
            <a:ext cx="6934506" cy="967132"/>
          </a:xfrm>
        </p:spPr>
        <p:txBody>
          <a:bodyPr/>
          <a:lstStyle/>
          <a:p>
            <a:pPr algn="ctr"/>
            <a:r>
              <a:rPr lang="en-US" dirty="0"/>
              <a:t>METHODOLOGY</a:t>
            </a:r>
            <a:endParaRPr lang="en-GB" dirty="0"/>
          </a:p>
        </p:txBody>
      </p:sp>
      <p:sp>
        <p:nvSpPr>
          <p:cNvPr id="3" name="Content Placeholder 2">
            <a:extLst>
              <a:ext uri="{FF2B5EF4-FFF2-40B4-BE49-F238E27FC236}">
                <a16:creationId xmlns:a16="http://schemas.microsoft.com/office/drawing/2014/main" id="{9BAE8E71-6E89-4FDD-95DC-27B186CD655A}"/>
              </a:ext>
            </a:extLst>
          </p:cNvPr>
          <p:cNvSpPr>
            <a:spLocks noGrp="1"/>
          </p:cNvSpPr>
          <p:nvPr>
            <p:ph idx="1"/>
          </p:nvPr>
        </p:nvSpPr>
        <p:spPr>
          <a:xfrm>
            <a:off x="143555" y="1545639"/>
            <a:ext cx="6871725" cy="4732317"/>
          </a:xfrm>
        </p:spPr>
        <p:txBody>
          <a:bodyPr>
            <a:normAutofit/>
          </a:bodyPr>
          <a:lstStyle/>
          <a:p>
            <a:r>
              <a:rPr lang="en-US" dirty="0"/>
              <a:t>DATA SOURCING – KAGGLE</a:t>
            </a:r>
          </a:p>
          <a:p>
            <a:endParaRPr lang="en-US" dirty="0"/>
          </a:p>
          <a:p>
            <a:endParaRPr lang="en-US" dirty="0"/>
          </a:p>
          <a:p>
            <a:r>
              <a:rPr lang="en-US" dirty="0"/>
              <a:t>DATA CLEANING </a:t>
            </a:r>
          </a:p>
          <a:p>
            <a:endParaRPr lang="en-US" dirty="0"/>
          </a:p>
          <a:p>
            <a:endParaRPr lang="en-US" dirty="0"/>
          </a:p>
          <a:p>
            <a:r>
              <a:rPr lang="en-US" dirty="0"/>
              <a:t>ANALYSIS &amp; VISUASLIZATIONS </a:t>
            </a:r>
            <a:endParaRPr lang="en-GB" dirty="0"/>
          </a:p>
        </p:txBody>
      </p:sp>
      <p:pic>
        <p:nvPicPr>
          <p:cNvPr id="1026" name="Picture 2" descr="Excel Logo, symbol, meaning, history ...">
            <a:extLst>
              <a:ext uri="{FF2B5EF4-FFF2-40B4-BE49-F238E27FC236}">
                <a16:creationId xmlns:a16="http://schemas.microsoft.com/office/drawing/2014/main" id="{54158AF7-0D6F-4880-9949-3FE3EC8C72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064" y="2800063"/>
            <a:ext cx="1670659" cy="9343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wer BI Vector Logo | Free Download ...">
            <a:extLst>
              <a:ext uri="{FF2B5EF4-FFF2-40B4-BE49-F238E27FC236}">
                <a16:creationId xmlns:a16="http://schemas.microsoft.com/office/drawing/2014/main" id="{E850961D-ACBF-4C25-A414-7B23CD6FEB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0115" y="4385451"/>
            <a:ext cx="1670659" cy="926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2369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D3132-D897-4C2A-A6CD-82B40C51C17A}"/>
              </a:ext>
            </a:extLst>
          </p:cNvPr>
          <p:cNvSpPr>
            <a:spLocks noGrp="1"/>
          </p:cNvSpPr>
          <p:nvPr>
            <p:ph type="title"/>
          </p:nvPr>
        </p:nvSpPr>
        <p:spPr>
          <a:xfrm>
            <a:off x="143555" y="37549"/>
            <a:ext cx="6871725" cy="967132"/>
          </a:xfrm>
        </p:spPr>
        <p:txBody>
          <a:bodyPr/>
          <a:lstStyle/>
          <a:p>
            <a:pPr algn="ctr"/>
            <a:r>
              <a:rPr lang="en-US" dirty="0"/>
              <a:t>K</a:t>
            </a:r>
            <a:r>
              <a:rPr lang="en-GB" dirty="0"/>
              <a:t>EY INSIGHTS</a:t>
            </a:r>
          </a:p>
        </p:txBody>
      </p:sp>
      <p:sp>
        <p:nvSpPr>
          <p:cNvPr id="3" name="Content Placeholder 2">
            <a:extLst>
              <a:ext uri="{FF2B5EF4-FFF2-40B4-BE49-F238E27FC236}">
                <a16:creationId xmlns:a16="http://schemas.microsoft.com/office/drawing/2014/main" id="{C4F69919-846C-465D-AEE8-BA0838F93368}"/>
              </a:ext>
            </a:extLst>
          </p:cNvPr>
          <p:cNvSpPr>
            <a:spLocks noGrp="1"/>
          </p:cNvSpPr>
          <p:nvPr>
            <p:ph idx="1"/>
          </p:nvPr>
        </p:nvSpPr>
        <p:spPr>
          <a:xfrm>
            <a:off x="341221" y="1164644"/>
            <a:ext cx="6476391" cy="4528711"/>
          </a:xfrm>
        </p:spPr>
        <p:txBody>
          <a:bodyPr>
            <a:normAutofit/>
          </a:bodyPr>
          <a:lstStyle/>
          <a:p>
            <a:pPr>
              <a:lnSpc>
                <a:spcPct val="150000"/>
              </a:lnSpc>
              <a:buFont typeface="Wingdings" panose="05000000000000000000" pitchFamily="2" charset="2"/>
              <a:buChar char="q"/>
            </a:pPr>
            <a:r>
              <a:rPr lang="en-US" sz="3200" dirty="0"/>
              <a:t>TOTAL CASES = 6 MILLION</a:t>
            </a:r>
          </a:p>
          <a:p>
            <a:pPr>
              <a:lnSpc>
                <a:spcPct val="150000"/>
              </a:lnSpc>
              <a:buFont typeface="Wingdings" panose="05000000000000000000" pitchFamily="2" charset="2"/>
              <a:buChar char="q"/>
            </a:pPr>
            <a:r>
              <a:rPr lang="en-US" sz="3200" dirty="0"/>
              <a:t>NEW CASES = 249,000</a:t>
            </a:r>
          </a:p>
          <a:p>
            <a:pPr>
              <a:lnSpc>
                <a:spcPct val="150000"/>
              </a:lnSpc>
              <a:buFont typeface="Wingdings" panose="05000000000000000000" pitchFamily="2" charset="2"/>
              <a:buChar char="q"/>
            </a:pPr>
            <a:r>
              <a:rPr lang="en-US" sz="3200" dirty="0"/>
              <a:t>NEW DEATHS = 9,146</a:t>
            </a:r>
          </a:p>
          <a:p>
            <a:pPr>
              <a:lnSpc>
                <a:spcPct val="150000"/>
              </a:lnSpc>
              <a:buFont typeface="Wingdings" panose="05000000000000000000" pitchFamily="2" charset="2"/>
              <a:buChar char="q"/>
            </a:pPr>
            <a:r>
              <a:rPr lang="en-US" sz="3200" dirty="0"/>
              <a:t>TOTAL DEATHS = 177,000</a:t>
            </a:r>
          </a:p>
          <a:p>
            <a:pPr>
              <a:lnSpc>
                <a:spcPct val="150000"/>
              </a:lnSpc>
              <a:buFont typeface="Wingdings" panose="05000000000000000000" pitchFamily="2" charset="2"/>
              <a:buChar char="q"/>
            </a:pPr>
            <a:r>
              <a:rPr lang="en-US" sz="3200" dirty="0"/>
              <a:t>NUMBER OF COUNTRIES =120</a:t>
            </a:r>
            <a:endParaRPr lang="en-GB" sz="3200" dirty="0"/>
          </a:p>
        </p:txBody>
      </p:sp>
    </p:spTree>
    <p:extLst>
      <p:ext uri="{BB962C8B-B14F-4D97-AF65-F5344CB8AC3E}">
        <p14:creationId xmlns:p14="http://schemas.microsoft.com/office/powerpoint/2010/main" val="3351896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10000"/>
            <a:lum/>
          </a:blip>
          <a:srcRect/>
          <a:stretch>
            <a:fillRect l="-3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EDD1E-C9C5-4E0E-A771-7E5A28014620}"/>
              </a:ext>
            </a:extLst>
          </p:cNvPr>
          <p:cNvSpPr>
            <a:spLocks noGrp="1"/>
          </p:cNvSpPr>
          <p:nvPr>
            <p:ph type="title"/>
          </p:nvPr>
        </p:nvSpPr>
        <p:spPr>
          <a:xfrm>
            <a:off x="0" y="0"/>
            <a:ext cx="9144000" cy="967132"/>
          </a:xfrm>
        </p:spPr>
        <p:txBody>
          <a:bodyPr/>
          <a:lstStyle/>
          <a:p>
            <a:pPr algn="ctr"/>
            <a:r>
              <a:rPr lang="en-US" dirty="0"/>
              <a:t>INITIAL SPREAD AND DOUBLING TIME</a:t>
            </a:r>
            <a:endParaRPr lang="en-GB" dirty="0"/>
          </a:p>
        </p:txBody>
      </p:sp>
      <p:sp>
        <p:nvSpPr>
          <p:cNvPr id="10" name="TextBox 9">
            <a:extLst>
              <a:ext uri="{FF2B5EF4-FFF2-40B4-BE49-F238E27FC236}">
                <a16:creationId xmlns:a16="http://schemas.microsoft.com/office/drawing/2014/main" id="{A8D9FD4D-8DB0-493B-9613-CAEF0BF5DD97}"/>
              </a:ext>
            </a:extLst>
          </p:cNvPr>
          <p:cNvSpPr txBox="1"/>
          <p:nvPr/>
        </p:nvSpPr>
        <p:spPr>
          <a:xfrm>
            <a:off x="296260" y="1138425"/>
            <a:ext cx="3857687" cy="4801314"/>
          </a:xfrm>
          <a:prstGeom prst="rect">
            <a:avLst/>
          </a:prstGeom>
          <a:noFill/>
        </p:spPr>
        <p:txBody>
          <a:bodyPr wrap="square" rtlCol="0">
            <a:spAutoFit/>
          </a:bodyPr>
          <a:lstStyle/>
          <a:p>
            <a:r>
              <a:rPr lang="en-US" b="1" dirty="0"/>
              <a:t>KEY INSIGHT</a:t>
            </a:r>
          </a:p>
          <a:p>
            <a:endParaRPr lang="en-US" b="1" dirty="0"/>
          </a:p>
          <a:p>
            <a:pPr marL="285750" indent="-285750">
              <a:buFont typeface="Wingdings" panose="05000000000000000000" pitchFamily="2" charset="2"/>
              <a:buChar char="q"/>
            </a:pPr>
            <a:r>
              <a:rPr lang="en-US" b="1" dirty="0"/>
              <a:t>Sharp Increase in February</a:t>
            </a:r>
            <a:r>
              <a:rPr lang="en-US" dirty="0"/>
              <a:t>: There is a significant jump in the percentage of total cases from January to February, peaking at </a:t>
            </a:r>
            <a:r>
              <a:rPr lang="en-US" b="1" dirty="0"/>
              <a:t>27.08%.</a:t>
            </a:r>
          </a:p>
          <a:p>
            <a:endParaRPr lang="en-US" dirty="0"/>
          </a:p>
          <a:p>
            <a:pPr marL="285750" indent="-285750">
              <a:buFont typeface="Wingdings" panose="05000000000000000000" pitchFamily="2" charset="2"/>
              <a:buChar char="q"/>
            </a:pPr>
            <a:r>
              <a:rPr lang="en-US" b="1" dirty="0"/>
              <a:t>Decline in March</a:t>
            </a:r>
            <a:r>
              <a:rPr lang="en-US" dirty="0"/>
              <a:t>: By March, the percentage of total cases has decreased to </a:t>
            </a:r>
            <a:r>
              <a:rPr lang="en-US" b="1" dirty="0"/>
              <a:t>17.07%. </a:t>
            </a:r>
          </a:p>
          <a:p>
            <a:pPr marL="285750" indent="-285750">
              <a:buFont typeface="Arial" panose="020B0604020202020204" pitchFamily="34" charset="0"/>
              <a:buChar char="•"/>
            </a:pPr>
            <a:endParaRPr lang="en-GB" dirty="0"/>
          </a:p>
          <a:p>
            <a:pPr marL="285750" indent="-285750" algn="just">
              <a:buFont typeface="Wingdings" panose="05000000000000000000" pitchFamily="2" charset="2"/>
              <a:buChar char="q"/>
            </a:pPr>
            <a:r>
              <a:rPr lang="en-US" dirty="0"/>
              <a:t>The most critical period was February in the early stages of the pandemic, where the virus spread rapidly, followed by a possible response or containment phase in March.</a:t>
            </a:r>
            <a:endParaRPr lang="en-GB" dirty="0"/>
          </a:p>
        </p:txBody>
      </p:sp>
      <p:pic>
        <p:nvPicPr>
          <p:cNvPr id="12" name="Picture 11">
            <a:extLst>
              <a:ext uri="{FF2B5EF4-FFF2-40B4-BE49-F238E27FC236}">
                <a16:creationId xmlns:a16="http://schemas.microsoft.com/office/drawing/2014/main" id="{BDF368B0-7E85-4B9F-A07F-73944F411B47}"/>
              </a:ext>
            </a:extLst>
          </p:cNvPr>
          <p:cNvPicPr>
            <a:picLocks noChangeAspect="1"/>
          </p:cNvPicPr>
          <p:nvPr/>
        </p:nvPicPr>
        <p:blipFill>
          <a:blip r:embed="rId3"/>
          <a:stretch>
            <a:fillRect/>
          </a:stretch>
        </p:blipFill>
        <p:spPr>
          <a:xfrm>
            <a:off x="4419295" y="1443835"/>
            <a:ext cx="4724705" cy="4201432"/>
          </a:xfrm>
          <a:prstGeom prst="rect">
            <a:avLst/>
          </a:prstGeom>
        </p:spPr>
      </p:pic>
    </p:spTree>
    <p:extLst>
      <p:ext uri="{BB962C8B-B14F-4D97-AF65-F5344CB8AC3E}">
        <p14:creationId xmlns:p14="http://schemas.microsoft.com/office/powerpoint/2010/main" val="521316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10000"/>
            <a:lum/>
          </a:blip>
          <a:srcRect/>
          <a:stretch>
            <a:fillRect l="-30000"/>
          </a:stretch>
        </a:blip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49E5611-3292-4D8B-A6AB-B8DB975A1ED0}"/>
              </a:ext>
            </a:extLst>
          </p:cNvPr>
          <p:cNvSpPr>
            <a:spLocks noGrp="1"/>
          </p:cNvSpPr>
          <p:nvPr>
            <p:ph idx="1"/>
          </p:nvPr>
        </p:nvSpPr>
        <p:spPr>
          <a:xfrm>
            <a:off x="143556" y="1138425"/>
            <a:ext cx="4123034" cy="5497380"/>
          </a:xfrm>
        </p:spPr>
        <p:txBody>
          <a:bodyPr>
            <a:normAutofit lnSpcReduction="10000"/>
          </a:bodyPr>
          <a:lstStyle/>
          <a:p>
            <a:pPr marL="0" indent="0">
              <a:buNone/>
            </a:pPr>
            <a:r>
              <a:rPr lang="en-US" sz="2000" b="1" dirty="0"/>
              <a:t>KEY INSIGHTS</a:t>
            </a:r>
          </a:p>
          <a:p>
            <a:pPr algn="just">
              <a:buFont typeface="Wingdings" panose="05000000000000000000" pitchFamily="2" charset="2"/>
              <a:buChar char="q"/>
            </a:pPr>
            <a:r>
              <a:rPr lang="en-US" sz="1600" b="1" dirty="0"/>
              <a:t>Variation in doubling time: </a:t>
            </a:r>
            <a:r>
              <a:rPr lang="en-US" sz="1600" dirty="0"/>
              <a:t>Some countries have a doubling time of less than 10 days, indicating rapid case growth, while others show significantly longer doubling times, over 40 or even 60 days, reflecting slower spread.</a:t>
            </a:r>
          </a:p>
          <a:p>
            <a:pPr algn="just"/>
            <a:endParaRPr lang="en-US" sz="1600" dirty="0"/>
          </a:p>
          <a:p>
            <a:pPr algn="just">
              <a:buFont typeface="Wingdings" panose="05000000000000000000" pitchFamily="2" charset="2"/>
              <a:buChar char="q"/>
            </a:pPr>
            <a:r>
              <a:rPr lang="en-US" sz="1600" b="1" dirty="0"/>
              <a:t>Clustered Patterns</a:t>
            </a:r>
            <a:r>
              <a:rPr lang="en-US" sz="1600" dirty="0"/>
              <a:t>: Most countries have a doubling time around 10-20 days, suggesting that, in many regions, cases were doubling at a similar rate or similar levels of containment measures or effective healthcare responses in these regions.</a:t>
            </a:r>
          </a:p>
          <a:p>
            <a:pPr algn="just"/>
            <a:endParaRPr lang="en-US" sz="1600" dirty="0"/>
          </a:p>
          <a:p>
            <a:pPr algn="just">
              <a:buFont typeface="Wingdings" panose="05000000000000000000" pitchFamily="2" charset="2"/>
              <a:buChar char="q"/>
            </a:pPr>
            <a:r>
              <a:rPr lang="en-US" sz="1600" b="1" dirty="0"/>
              <a:t>Outliers</a:t>
            </a:r>
            <a:r>
              <a:rPr lang="en-US" sz="1600" dirty="0"/>
              <a:t>: Countries, such as China, Australia and a few others, exhibit notably longer doubling times (above 40 days), possibly due to effective containment measures, early lockdowns, or differences in population density and healthcare infrastructure.</a:t>
            </a:r>
            <a:endParaRPr lang="en-GB" sz="1600" dirty="0"/>
          </a:p>
        </p:txBody>
      </p:sp>
      <p:pic>
        <p:nvPicPr>
          <p:cNvPr id="9" name="Picture 8">
            <a:extLst>
              <a:ext uri="{FF2B5EF4-FFF2-40B4-BE49-F238E27FC236}">
                <a16:creationId xmlns:a16="http://schemas.microsoft.com/office/drawing/2014/main" id="{0424BA2C-C02B-4740-9F52-7C2D23C38757}"/>
              </a:ext>
            </a:extLst>
          </p:cNvPr>
          <p:cNvPicPr>
            <a:picLocks noChangeAspect="1"/>
          </p:cNvPicPr>
          <p:nvPr/>
        </p:nvPicPr>
        <p:blipFill>
          <a:blip r:embed="rId3"/>
          <a:stretch>
            <a:fillRect/>
          </a:stretch>
        </p:blipFill>
        <p:spPr>
          <a:xfrm>
            <a:off x="4551050" y="1291130"/>
            <a:ext cx="4592950" cy="3970330"/>
          </a:xfrm>
          <a:prstGeom prst="rect">
            <a:avLst/>
          </a:prstGeom>
        </p:spPr>
      </p:pic>
      <p:sp>
        <p:nvSpPr>
          <p:cNvPr id="10" name="Title 1">
            <a:extLst>
              <a:ext uri="{FF2B5EF4-FFF2-40B4-BE49-F238E27FC236}">
                <a16:creationId xmlns:a16="http://schemas.microsoft.com/office/drawing/2014/main" id="{AB32DD9B-0D87-4843-AD32-8070A02E5CCA}"/>
              </a:ext>
            </a:extLst>
          </p:cNvPr>
          <p:cNvSpPr>
            <a:spLocks noGrp="1"/>
          </p:cNvSpPr>
          <p:nvPr>
            <p:ph type="title"/>
          </p:nvPr>
        </p:nvSpPr>
        <p:spPr>
          <a:xfrm>
            <a:off x="0" y="0"/>
            <a:ext cx="9144000" cy="967132"/>
          </a:xfrm>
        </p:spPr>
        <p:txBody>
          <a:bodyPr/>
          <a:lstStyle/>
          <a:p>
            <a:pPr algn="ctr"/>
            <a:r>
              <a:rPr lang="en-US" dirty="0"/>
              <a:t>INITIAL SPREAD AND DOUBLING TIME</a:t>
            </a:r>
            <a:endParaRPr lang="en-GB" dirty="0"/>
          </a:p>
        </p:txBody>
      </p:sp>
    </p:spTree>
    <p:extLst>
      <p:ext uri="{BB962C8B-B14F-4D97-AF65-F5344CB8AC3E}">
        <p14:creationId xmlns:p14="http://schemas.microsoft.com/office/powerpoint/2010/main" val="3060978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3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763F-F754-4E92-A0D9-A7F9171FBE7C}"/>
              </a:ext>
            </a:extLst>
          </p:cNvPr>
          <p:cNvSpPr>
            <a:spLocks noGrp="1"/>
          </p:cNvSpPr>
          <p:nvPr>
            <p:ph type="title"/>
          </p:nvPr>
        </p:nvSpPr>
        <p:spPr>
          <a:xfrm>
            <a:off x="448965" y="0"/>
            <a:ext cx="6934506" cy="967132"/>
          </a:xfrm>
        </p:spPr>
        <p:txBody>
          <a:bodyPr/>
          <a:lstStyle/>
          <a:p>
            <a:r>
              <a:rPr lang="en-US" dirty="0"/>
              <a:t>EARLY CONTAINMENT MEASURES</a:t>
            </a:r>
            <a:endParaRPr lang="en-GB" dirty="0"/>
          </a:p>
        </p:txBody>
      </p:sp>
      <p:sp>
        <p:nvSpPr>
          <p:cNvPr id="3" name="Content Placeholder 2">
            <a:extLst>
              <a:ext uri="{FF2B5EF4-FFF2-40B4-BE49-F238E27FC236}">
                <a16:creationId xmlns:a16="http://schemas.microsoft.com/office/drawing/2014/main" id="{75D8DEFC-44D4-4F4C-8BC6-6A66B55505DD}"/>
              </a:ext>
            </a:extLst>
          </p:cNvPr>
          <p:cNvSpPr>
            <a:spLocks noGrp="1"/>
          </p:cNvSpPr>
          <p:nvPr>
            <p:ph idx="1"/>
          </p:nvPr>
        </p:nvSpPr>
        <p:spPr>
          <a:xfrm>
            <a:off x="538889" y="1053073"/>
            <a:ext cx="4491226" cy="5430027"/>
          </a:xfrm>
        </p:spPr>
        <p:txBody>
          <a:bodyPr>
            <a:normAutofit/>
          </a:bodyPr>
          <a:lstStyle/>
          <a:p>
            <a:pPr marL="0" indent="0">
              <a:lnSpc>
                <a:spcPct val="150000"/>
              </a:lnSpc>
              <a:buNone/>
            </a:pPr>
            <a:r>
              <a:rPr lang="en-US" sz="1600" b="1" dirty="0"/>
              <a:t>KEY INSIGHTS</a:t>
            </a:r>
          </a:p>
          <a:p>
            <a:pPr algn="just">
              <a:lnSpc>
                <a:spcPct val="150000"/>
              </a:lnSpc>
              <a:buFont typeface="Wingdings" panose="05000000000000000000" pitchFamily="2" charset="2"/>
              <a:buChar char="q"/>
            </a:pPr>
            <a:r>
              <a:rPr lang="en-US" sz="1700" b="1" dirty="0"/>
              <a:t>Widespread Low Cases Across Countries</a:t>
            </a:r>
            <a:r>
              <a:rPr lang="en-US" sz="1700" dirty="0"/>
              <a:t>: Multiple countries, including Afghanistan, Algeria, and Bhutan, reported zero cases in early 2020 (January to March).</a:t>
            </a:r>
          </a:p>
          <a:p>
            <a:pPr algn="just">
              <a:lnSpc>
                <a:spcPct val="150000"/>
              </a:lnSpc>
              <a:buFont typeface="Wingdings" panose="05000000000000000000" pitchFamily="2" charset="2"/>
              <a:buChar char="q"/>
            </a:pPr>
            <a:r>
              <a:rPr lang="en-US" sz="1600" b="1" dirty="0"/>
              <a:t>Consistency in Zero Cases for Entire Months</a:t>
            </a:r>
            <a:r>
              <a:rPr lang="en-US" sz="1600" dirty="0"/>
              <a:t>: Many of these countries consistently reported zero cases for whole months.</a:t>
            </a:r>
          </a:p>
          <a:p>
            <a:pPr algn="just">
              <a:lnSpc>
                <a:spcPct val="150000"/>
              </a:lnSpc>
              <a:buFont typeface="Wingdings" panose="05000000000000000000" pitchFamily="2" charset="2"/>
              <a:buChar char="q"/>
            </a:pPr>
            <a:r>
              <a:rPr lang="en-US" sz="1600" b="1" dirty="0"/>
              <a:t>Total Low Case Count: </a:t>
            </a:r>
            <a:r>
              <a:rPr lang="en-US" sz="1600" dirty="0"/>
              <a:t>The total of 70 cases across these countries emphasizes the slow initial spread of COVID-19 in certain regions, possibly due to geographic isolation or proactive measures.</a:t>
            </a:r>
          </a:p>
          <a:p>
            <a:pPr algn="just">
              <a:lnSpc>
                <a:spcPct val="150000"/>
              </a:lnSpc>
              <a:buFont typeface="Wingdings" panose="05000000000000000000" pitchFamily="2" charset="2"/>
              <a:buChar char="q"/>
            </a:pPr>
            <a:endParaRPr lang="en-US" sz="1600" dirty="0"/>
          </a:p>
        </p:txBody>
      </p:sp>
      <p:pic>
        <p:nvPicPr>
          <p:cNvPr id="9" name="Picture 8">
            <a:extLst>
              <a:ext uri="{FF2B5EF4-FFF2-40B4-BE49-F238E27FC236}">
                <a16:creationId xmlns:a16="http://schemas.microsoft.com/office/drawing/2014/main" id="{29FE3771-BB75-49D2-AF20-ECA7E04B9E84}"/>
              </a:ext>
            </a:extLst>
          </p:cNvPr>
          <p:cNvPicPr>
            <a:picLocks noChangeAspect="1"/>
          </p:cNvPicPr>
          <p:nvPr/>
        </p:nvPicPr>
        <p:blipFill>
          <a:blip r:embed="rId3"/>
          <a:stretch>
            <a:fillRect/>
          </a:stretch>
        </p:blipFill>
        <p:spPr>
          <a:xfrm>
            <a:off x="5290010" y="1443835"/>
            <a:ext cx="3557729" cy="4390178"/>
          </a:xfrm>
          <a:prstGeom prst="rect">
            <a:avLst/>
          </a:prstGeom>
        </p:spPr>
      </p:pic>
    </p:spTree>
    <p:extLst>
      <p:ext uri="{BB962C8B-B14F-4D97-AF65-F5344CB8AC3E}">
        <p14:creationId xmlns:p14="http://schemas.microsoft.com/office/powerpoint/2010/main" val="3671395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3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13893-33F0-40D8-BA38-FD73B48F1172}"/>
              </a:ext>
            </a:extLst>
          </p:cNvPr>
          <p:cNvSpPr>
            <a:spLocks noGrp="1"/>
          </p:cNvSpPr>
          <p:nvPr>
            <p:ph type="title"/>
          </p:nvPr>
        </p:nvSpPr>
        <p:spPr>
          <a:xfrm>
            <a:off x="0" y="0"/>
            <a:ext cx="9144000" cy="967132"/>
          </a:xfrm>
        </p:spPr>
        <p:txBody>
          <a:bodyPr>
            <a:normAutofit/>
          </a:bodyPr>
          <a:lstStyle/>
          <a:p>
            <a:pPr algn="ctr"/>
            <a:r>
              <a:rPr lang="en-US" dirty="0"/>
              <a:t>GEOGRAPHICAL SPREAD IN INITIAL STAGES</a:t>
            </a:r>
            <a:endParaRPr lang="en-GB" dirty="0"/>
          </a:p>
        </p:txBody>
      </p:sp>
      <p:sp>
        <p:nvSpPr>
          <p:cNvPr id="3" name="Content Placeholder 2">
            <a:extLst>
              <a:ext uri="{FF2B5EF4-FFF2-40B4-BE49-F238E27FC236}">
                <a16:creationId xmlns:a16="http://schemas.microsoft.com/office/drawing/2014/main" id="{CA0D8D6C-0FE4-4308-8175-EADAB1D6A5EF}"/>
              </a:ext>
            </a:extLst>
          </p:cNvPr>
          <p:cNvSpPr>
            <a:spLocks noGrp="1"/>
          </p:cNvSpPr>
          <p:nvPr>
            <p:ph idx="1"/>
          </p:nvPr>
        </p:nvSpPr>
        <p:spPr>
          <a:xfrm>
            <a:off x="5640935" y="1587128"/>
            <a:ext cx="3655769" cy="4123034"/>
          </a:xfrm>
        </p:spPr>
        <p:txBody>
          <a:bodyPr>
            <a:normAutofit lnSpcReduction="10000"/>
          </a:bodyPr>
          <a:lstStyle/>
          <a:p>
            <a:pPr marL="0" indent="0">
              <a:lnSpc>
                <a:spcPct val="150000"/>
              </a:lnSpc>
              <a:buNone/>
            </a:pPr>
            <a:r>
              <a:rPr lang="en-US" sz="2000" b="1" dirty="0"/>
              <a:t>KEY INSIGHTS</a:t>
            </a:r>
          </a:p>
          <a:p>
            <a:pPr>
              <a:lnSpc>
                <a:spcPct val="150000"/>
              </a:lnSpc>
              <a:buFont typeface="Wingdings" panose="05000000000000000000" pitchFamily="2" charset="2"/>
              <a:buChar char="q"/>
            </a:pPr>
            <a:r>
              <a:rPr lang="en-US" sz="2000" dirty="0"/>
              <a:t>Geographic Clustering in Asia and Europe.</a:t>
            </a:r>
          </a:p>
          <a:p>
            <a:pPr>
              <a:lnSpc>
                <a:spcPct val="150000"/>
              </a:lnSpc>
              <a:buFont typeface="Wingdings" panose="05000000000000000000" pitchFamily="2" charset="2"/>
              <a:buChar char="q"/>
            </a:pPr>
            <a:r>
              <a:rPr lang="en-US" sz="2000" dirty="0"/>
              <a:t>Smaller Outbreaks in Remote or Isolated Regions.</a:t>
            </a:r>
          </a:p>
          <a:p>
            <a:pPr>
              <a:lnSpc>
                <a:spcPct val="150000"/>
              </a:lnSpc>
              <a:buFont typeface="Wingdings" panose="05000000000000000000" pitchFamily="2" charset="2"/>
              <a:buChar char="q"/>
            </a:pPr>
            <a:r>
              <a:rPr lang="en-US" sz="2000" dirty="0"/>
              <a:t>Larger Circle Sizes for High-Case Regions which aligns with the initial epicenter of the pandemic.</a:t>
            </a:r>
          </a:p>
          <a:p>
            <a:pPr>
              <a:lnSpc>
                <a:spcPct val="150000"/>
              </a:lnSpc>
              <a:buFont typeface="Wingdings" panose="05000000000000000000" pitchFamily="2" charset="2"/>
              <a:buChar char="q"/>
            </a:pPr>
            <a:endParaRPr lang="en-GB" sz="2000" b="1" dirty="0"/>
          </a:p>
        </p:txBody>
      </p:sp>
      <p:pic>
        <p:nvPicPr>
          <p:cNvPr id="5" name="Picture 4">
            <a:extLst>
              <a:ext uri="{FF2B5EF4-FFF2-40B4-BE49-F238E27FC236}">
                <a16:creationId xmlns:a16="http://schemas.microsoft.com/office/drawing/2014/main" id="{73D6A400-2CB7-4FDD-A886-4D003BAC4BC9}"/>
              </a:ext>
            </a:extLst>
          </p:cNvPr>
          <p:cNvPicPr>
            <a:picLocks noChangeAspect="1"/>
          </p:cNvPicPr>
          <p:nvPr/>
        </p:nvPicPr>
        <p:blipFill>
          <a:blip r:embed="rId3"/>
          <a:stretch>
            <a:fillRect/>
          </a:stretch>
        </p:blipFill>
        <p:spPr>
          <a:xfrm>
            <a:off x="494521" y="1596540"/>
            <a:ext cx="4929691" cy="4123035"/>
          </a:xfrm>
          <a:prstGeom prst="rect">
            <a:avLst/>
          </a:prstGeom>
        </p:spPr>
      </p:pic>
    </p:spTree>
    <p:extLst>
      <p:ext uri="{BB962C8B-B14F-4D97-AF65-F5344CB8AC3E}">
        <p14:creationId xmlns:p14="http://schemas.microsoft.com/office/powerpoint/2010/main" val="3608982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3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9662B-4D84-4D8D-B766-569632DEA705}"/>
              </a:ext>
            </a:extLst>
          </p:cNvPr>
          <p:cNvSpPr>
            <a:spLocks noGrp="1"/>
          </p:cNvSpPr>
          <p:nvPr>
            <p:ph type="title"/>
          </p:nvPr>
        </p:nvSpPr>
        <p:spPr>
          <a:xfrm>
            <a:off x="0" y="38506"/>
            <a:ext cx="9144000" cy="967132"/>
          </a:xfrm>
        </p:spPr>
        <p:txBody>
          <a:bodyPr/>
          <a:lstStyle/>
          <a:p>
            <a:pPr algn="ctr"/>
            <a:r>
              <a:rPr lang="en-US" dirty="0"/>
              <a:t>ONSET OF MORTALITY POST- INITIAL CASES</a:t>
            </a:r>
            <a:endParaRPr lang="en-GB" dirty="0"/>
          </a:p>
        </p:txBody>
      </p:sp>
      <p:sp>
        <p:nvSpPr>
          <p:cNvPr id="3" name="Content Placeholder 2">
            <a:extLst>
              <a:ext uri="{FF2B5EF4-FFF2-40B4-BE49-F238E27FC236}">
                <a16:creationId xmlns:a16="http://schemas.microsoft.com/office/drawing/2014/main" id="{7AD3FF35-7E70-43F3-BFFF-ACA9B98B08D3}"/>
              </a:ext>
            </a:extLst>
          </p:cNvPr>
          <p:cNvSpPr>
            <a:spLocks noGrp="1"/>
          </p:cNvSpPr>
          <p:nvPr>
            <p:ph idx="1"/>
          </p:nvPr>
        </p:nvSpPr>
        <p:spPr>
          <a:xfrm>
            <a:off x="296260" y="1005638"/>
            <a:ext cx="3817625" cy="5782871"/>
          </a:xfrm>
        </p:spPr>
        <p:txBody>
          <a:bodyPr>
            <a:noAutofit/>
          </a:bodyPr>
          <a:lstStyle/>
          <a:p>
            <a:pPr marL="0" indent="0" algn="just">
              <a:lnSpc>
                <a:spcPct val="150000"/>
              </a:lnSpc>
              <a:buNone/>
            </a:pPr>
            <a:r>
              <a:rPr lang="en-US" sz="1600" b="1" dirty="0"/>
              <a:t>KEY INSIGHTS</a:t>
            </a:r>
          </a:p>
          <a:p>
            <a:pPr algn="just">
              <a:lnSpc>
                <a:spcPct val="150000"/>
              </a:lnSpc>
              <a:buFont typeface="Wingdings" panose="05000000000000000000" pitchFamily="2" charset="2"/>
              <a:buChar char="q"/>
            </a:pPr>
            <a:r>
              <a:rPr lang="en-US" sz="1600" b="1" dirty="0"/>
              <a:t>Uniform Time Lags: </a:t>
            </a:r>
            <a:r>
              <a:rPr lang="en-US" sz="1600" dirty="0"/>
              <a:t>suggesting similar response times and possibly comparable healthcare dynamics in these nations.. </a:t>
            </a:r>
          </a:p>
          <a:p>
            <a:pPr algn="just">
              <a:lnSpc>
                <a:spcPct val="150000"/>
              </a:lnSpc>
              <a:buFont typeface="Wingdings" panose="05000000000000000000" pitchFamily="2" charset="2"/>
              <a:buChar char="q"/>
            </a:pPr>
            <a:r>
              <a:rPr lang="en-US" sz="1600" b="1" dirty="0"/>
              <a:t>Shorter Time Lags: </a:t>
            </a:r>
            <a:r>
              <a:rPr lang="en-US" sz="1600" dirty="0"/>
              <a:t>Western countries might reflect different approaches or efficiencies in healthcare response and reporting.</a:t>
            </a:r>
          </a:p>
          <a:p>
            <a:pPr algn="just">
              <a:lnSpc>
                <a:spcPct val="150000"/>
              </a:lnSpc>
              <a:buFont typeface="Wingdings" panose="05000000000000000000" pitchFamily="2" charset="2"/>
              <a:buChar char="q"/>
            </a:pPr>
            <a:r>
              <a:rPr lang="en-US" sz="1600" b="1" dirty="0"/>
              <a:t>Variance in Reporting: </a:t>
            </a:r>
            <a:r>
              <a:rPr lang="en-US" sz="1600" dirty="0"/>
              <a:t>The Philippines had the shortest time lag at 43 days, while Germany and Canada were close at 45 and 46 days respectively, highlighting variances in how quickly fatalities were recorded or occurred.</a:t>
            </a:r>
            <a:endParaRPr lang="en-GB" sz="1600" dirty="0"/>
          </a:p>
        </p:txBody>
      </p:sp>
      <p:pic>
        <p:nvPicPr>
          <p:cNvPr id="6" name="Picture 5">
            <a:extLst>
              <a:ext uri="{FF2B5EF4-FFF2-40B4-BE49-F238E27FC236}">
                <a16:creationId xmlns:a16="http://schemas.microsoft.com/office/drawing/2014/main" id="{27165678-E442-49BC-9B61-0BB7C9F57B4A}"/>
              </a:ext>
            </a:extLst>
          </p:cNvPr>
          <p:cNvPicPr>
            <a:picLocks noChangeAspect="1"/>
          </p:cNvPicPr>
          <p:nvPr/>
        </p:nvPicPr>
        <p:blipFill rotWithShape="1">
          <a:blip r:embed="rId3"/>
          <a:srcRect l="3066" r="1906"/>
          <a:stretch/>
        </p:blipFill>
        <p:spPr>
          <a:xfrm>
            <a:off x="4266590" y="1520187"/>
            <a:ext cx="4733855" cy="3817625"/>
          </a:xfrm>
          <a:prstGeom prst="rect">
            <a:avLst/>
          </a:prstGeom>
        </p:spPr>
      </p:pic>
    </p:spTree>
    <p:extLst>
      <p:ext uri="{BB962C8B-B14F-4D97-AF65-F5344CB8AC3E}">
        <p14:creationId xmlns:p14="http://schemas.microsoft.com/office/powerpoint/2010/main" val="375379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30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B16D-67B1-480F-AC98-D5BA0F3B8F9A}"/>
              </a:ext>
            </a:extLst>
          </p:cNvPr>
          <p:cNvSpPr>
            <a:spLocks noGrp="1"/>
          </p:cNvSpPr>
          <p:nvPr>
            <p:ph type="title"/>
          </p:nvPr>
        </p:nvSpPr>
        <p:spPr>
          <a:xfrm>
            <a:off x="14278" y="-83215"/>
            <a:ext cx="9143999" cy="967132"/>
          </a:xfrm>
        </p:spPr>
        <p:txBody>
          <a:bodyPr>
            <a:normAutofit/>
          </a:bodyPr>
          <a:lstStyle/>
          <a:p>
            <a:pPr algn="ctr"/>
            <a:r>
              <a:rPr lang="en-US" dirty="0"/>
              <a:t>MORTALITY RATES BY NUMBERS</a:t>
            </a:r>
            <a:endParaRPr lang="en-GB" dirty="0"/>
          </a:p>
        </p:txBody>
      </p:sp>
      <p:pic>
        <p:nvPicPr>
          <p:cNvPr id="9" name="Picture 8">
            <a:extLst>
              <a:ext uri="{FF2B5EF4-FFF2-40B4-BE49-F238E27FC236}">
                <a16:creationId xmlns:a16="http://schemas.microsoft.com/office/drawing/2014/main" id="{A2A00797-7587-4E77-A4F4-E0863E3A0674}"/>
              </a:ext>
            </a:extLst>
          </p:cNvPr>
          <p:cNvPicPr>
            <a:picLocks noChangeAspect="1"/>
          </p:cNvPicPr>
          <p:nvPr/>
        </p:nvPicPr>
        <p:blipFill>
          <a:blip r:embed="rId3"/>
          <a:stretch>
            <a:fillRect/>
          </a:stretch>
        </p:blipFill>
        <p:spPr>
          <a:xfrm>
            <a:off x="1670605" y="1538981"/>
            <a:ext cx="4539138" cy="3557162"/>
          </a:xfrm>
          <a:prstGeom prst="rect">
            <a:avLst/>
          </a:prstGeom>
        </p:spPr>
      </p:pic>
    </p:spTree>
    <p:extLst>
      <p:ext uri="{BB962C8B-B14F-4D97-AF65-F5344CB8AC3E}">
        <p14:creationId xmlns:p14="http://schemas.microsoft.com/office/powerpoint/2010/main" val="3901528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443835"/>
            <a:ext cx="9144000" cy="1018033"/>
          </a:xfrm>
        </p:spPr>
        <p:txBody>
          <a:bodyPr/>
          <a:lstStyle/>
          <a:p>
            <a:r>
              <a:rPr lang="en-US" dirty="0"/>
              <a:t>SUMMARY OF KEY FINDINGS</a:t>
            </a:r>
          </a:p>
        </p:txBody>
      </p:sp>
      <p:sp>
        <p:nvSpPr>
          <p:cNvPr id="12" name="Content Placeholder 11">
            <a:extLst>
              <a:ext uri="{FF2B5EF4-FFF2-40B4-BE49-F238E27FC236}">
                <a16:creationId xmlns:a16="http://schemas.microsoft.com/office/drawing/2014/main" id="{1752EDC6-49A3-432F-8D52-F9E769A03833}"/>
              </a:ext>
            </a:extLst>
          </p:cNvPr>
          <p:cNvSpPr>
            <a:spLocks noGrp="1"/>
          </p:cNvSpPr>
          <p:nvPr>
            <p:ph sz="quarter" idx="4"/>
          </p:nvPr>
        </p:nvSpPr>
        <p:spPr>
          <a:xfrm>
            <a:off x="754375" y="2360065"/>
            <a:ext cx="7859401" cy="4275740"/>
          </a:xfrm>
        </p:spPr>
        <p:txBody>
          <a:bodyPr>
            <a:normAutofit fontScale="92500" lnSpcReduction="20000"/>
          </a:bodyPr>
          <a:lstStyle/>
          <a:p>
            <a:pPr algn="just">
              <a:buFont typeface="Wingdings" panose="05000000000000000000" pitchFamily="2" charset="2"/>
              <a:buChar char="q"/>
            </a:pPr>
            <a:r>
              <a:rPr lang="en-US" b="1" u="sng" dirty="0"/>
              <a:t>Early Case Surge: </a:t>
            </a:r>
            <a:r>
              <a:rPr lang="en-US" dirty="0"/>
              <a:t>COVID-19 cases surged rapidly in February, peaking at 27.08%, then declined in March.</a:t>
            </a:r>
          </a:p>
          <a:p>
            <a:pPr algn="just">
              <a:buFont typeface="Wingdings" panose="05000000000000000000" pitchFamily="2" charset="2"/>
              <a:buChar char="q"/>
            </a:pPr>
            <a:r>
              <a:rPr lang="en-US" b="1" u="sng" dirty="0"/>
              <a:t>Slow Growth Regions: </a:t>
            </a:r>
            <a:r>
              <a:rPr lang="en-US" dirty="0"/>
              <a:t>Some countries maintained zero or low cases early on, likely due to effective containment or isolation.</a:t>
            </a:r>
          </a:p>
          <a:p>
            <a:pPr algn="just">
              <a:buFont typeface="Wingdings" panose="05000000000000000000" pitchFamily="2" charset="2"/>
              <a:buChar char="q"/>
            </a:pPr>
            <a:r>
              <a:rPr lang="en-US" b="1" u="sng" dirty="0"/>
              <a:t>Doubling Time Variance: </a:t>
            </a:r>
            <a:r>
              <a:rPr lang="en-US" dirty="0"/>
              <a:t>Countries showed diverse doubling times, with faster growth in some and extended doubling periods up to 60 days in others.</a:t>
            </a:r>
          </a:p>
          <a:p>
            <a:pPr algn="just">
              <a:buFont typeface="Wingdings" panose="05000000000000000000" pitchFamily="2" charset="2"/>
              <a:buChar char="q"/>
            </a:pPr>
            <a:r>
              <a:rPr lang="en-US" b="1" u="sng" dirty="0"/>
              <a:t>Successful Containment: </a:t>
            </a:r>
            <a:r>
              <a:rPr lang="en-US" dirty="0"/>
              <a:t>Many countries, like Afghanistan, Albania, and Algeria, reported consistently low or zero cases initially, suggesting early containment effectiveness.</a:t>
            </a:r>
          </a:p>
          <a:p>
            <a:pPr algn="just">
              <a:buFont typeface="Wingdings" panose="05000000000000000000" pitchFamily="2" charset="2"/>
              <a:buChar char="q"/>
            </a:pPr>
            <a:r>
              <a:rPr lang="en-US" b="1" u="sng" dirty="0"/>
              <a:t>Geographic Spread Map: </a:t>
            </a:r>
            <a:r>
              <a:rPr lang="en-US" dirty="0"/>
              <a:t>COVID-19 cases spread across diverse global regions, with noticeable concentrations in countries like Mongolia in the first quarter of 2020.</a:t>
            </a:r>
            <a:endParaRPr lang="en-GB" dirty="0"/>
          </a:p>
        </p:txBody>
      </p:sp>
    </p:spTree>
    <p:extLst>
      <p:ext uri="{BB962C8B-B14F-4D97-AF65-F5344CB8AC3E}">
        <p14:creationId xmlns:p14="http://schemas.microsoft.com/office/powerpoint/2010/main" val="4170783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21C5-3418-45CE-BB68-E3BF6A54311C}"/>
              </a:ext>
            </a:extLst>
          </p:cNvPr>
          <p:cNvSpPr>
            <a:spLocks noGrp="1"/>
          </p:cNvSpPr>
          <p:nvPr>
            <p:ph type="title"/>
          </p:nvPr>
        </p:nvSpPr>
        <p:spPr>
          <a:xfrm>
            <a:off x="448965" y="1443835"/>
            <a:ext cx="8246070" cy="1018033"/>
          </a:xfrm>
        </p:spPr>
        <p:txBody>
          <a:bodyPr/>
          <a:lstStyle/>
          <a:p>
            <a:r>
              <a:rPr lang="en-US" dirty="0"/>
              <a:t>CONCLUSION</a:t>
            </a:r>
            <a:endParaRPr lang="en-GB" dirty="0"/>
          </a:p>
        </p:txBody>
      </p:sp>
      <p:sp>
        <p:nvSpPr>
          <p:cNvPr id="6" name="Content Placeholder 5">
            <a:extLst>
              <a:ext uri="{FF2B5EF4-FFF2-40B4-BE49-F238E27FC236}">
                <a16:creationId xmlns:a16="http://schemas.microsoft.com/office/drawing/2014/main" id="{A03CCBA5-C14A-40BE-BFF4-C0B56AEB652E}"/>
              </a:ext>
            </a:extLst>
          </p:cNvPr>
          <p:cNvSpPr>
            <a:spLocks noGrp="1"/>
          </p:cNvSpPr>
          <p:nvPr>
            <p:ph sz="quarter" idx="4"/>
          </p:nvPr>
        </p:nvSpPr>
        <p:spPr>
          <a:xfrm>
            <a:off x="601671" y="2665475"/>
            <a:ext cx="8012106" cy="3594977"/>
          </a:xfrm>
        </p:spPr>
        <p:txBody>
          <a:bodyPr/>
          <a:lstStyle/>
          <a:p>
            <a:pPr marL="0" indent="0" algn="just">
              <a:lnSpc>
                <a:spcPct val="150000"/>
              </a:lnSpc>
              <a:buNone/>
            </a:pPr>
            <a:r>
              <a:rPr lang="en-US" dirty="0"/>
              <a:t>The analysis underscores the importance of timely containment measures, highlights the varied impact of COVID-19 across countries, and provides insights into how different factors influenced early transmission dynamics globally.</a:t>
            </a:r>
            <a:endParaRPr lang="en-GB" dirty="0"/>
          </a:p>
        </p:txBody>
      </p:sp>
    </p:spTree>
    <p:extLst>
      <p:ext uri="{BB962C8B-B14F-4D97-AF65-F5344CB8AC3E}">
        <p14:creationId xmlns:p14="http://schemas.microsoft.com/office/powerpoint/2010/main" val="3448277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DE04F-50B4-4BF2-899A-25417587061F}"/>
              </a:ext>
            </a:extLst>
          </p:cNvPr>
          <p:cNvSpPr>
            <a:spLocks noGrp="1"/>
          </p:cNvSpPr>
          <p:nvPr>
            <p:ph type="title"/>
          </p:nvPr>
        </p:nvSpPr>
        <p:spPr/>
        <p:txBody>
          <a:bodyPr/>
          <a:lstStyle/>
          <a:p>
            <a:r>
              <a:rPr lang="en-US" dirty="0"/>
              <a:t>RECOMMENDATION</a:t>
            </a:r>
            <a:endParaRPr lang="en-GB" dirty="0"/>
          </a:p>
        </p:txBody>
      </p:sp>
      <p:sp>
        <p:nvSpPr>
          <p:cNvPr id="4" name="Content Placeholder 3">
            <a:extLst>
              <a:ext uri="{FF2B5EF4-FFF2-40B4-BE49-F238E27FC236}">
                <a16:creationId xmlns:a16="http://schemas.microsoft.com/office/drawing/2014/main" id="{BA32C21C-DCAA-4A3C-94CE-F07391959183}"/>
              </a:ext>
            </a:extLst>
          </p:cNvPr>
          <p:cNvSpPr>
            <a:spLocks noGrp="1"/>
          </p:cNvSpPr>
          <p:nvPr>
            <p:ph sz="half" idx="2"/>
          </p:nvPr>
        </p:nvSpPr>
        <p:spPr>
          <a:xfrm>
            <a:off x="148130" y="2614574"/>
            <a:ext cx="8847739" cy="3645878"/>
          </a:xfrm>
        </p:spPr>
        <p:txBody>
          <a:bodyPr>
            <a:normAutofit/>
          </a:bodyPr>
          <a:lstStyle/>
          <a:p>
            <a:pPr algn="just">
              <a:lnSpc>
                <a:spcPct val="200000"/>
              </a:lnSpc>
              <a:buFont typeface="Wingdings" panose="05000000000000000000" pitchFamily="2" charset="2"/>
              <a:buChar char="q"/>
            </a:pPr>
            <a:r>
              <a:rPr lang="en-US" sz="2400" dirty="0"/>
              <a:t>Early containment measures are crucial.</a:t>
            </a:r>
          </a:p>
          <a:p>
            <a:pPr algn="just">
              <a:lnSpc>
                <a:spcPct val="200000"/>
              </a:lnSpc>
              <a:buFont typeface="Wingdings" panose="05000000000000000000" pitchFamily="2" charset="2"/>
              <a:buChar char="q"/>
            </a:pPr>
            <a:r>
              <a:rPr lang="en-US" dirty="0"/>
              <a:t>R</a:t>
            </a:r>
            <a:r>
              <a:rPr lang="en-US" sz="2400" dirty="0"/>
              <a:t>eal-time data monitoring to predict doubling rates.</a:t>
            </a:r>
          </a:p>
          <a:p>
            <a:pPr algn="just">
              <a:lnSpc>
                <a:spcPct val="200000"/>
              </a:lnSpc>
              <a:buFont typeface="Wingdings" panose="05000000000000000000" pitchFamily="2" charset="2"/>
              <a:buChar char="q"/>
            </a:pPr>
            <a:r>
              <a:rPr lang="en-US" dirty="0"/>
              <a:t>Swift adoption of health infrastructure to mitigate the onset of high mortality rate.</a:t>
            </a:r>
          </a:p>
          <a:p>
            <a:pPr algn="just">
              <a:lnSpc>
                <a:spcPct val="200000"/>
              </a:lnSpc>
            </a:pPr>
            <a:endParaRPr lang="en-GB" dirty="0"/>
          </a:p>
        </p:txBody>
      </p:sp>
    </p:spTree>
    <p:extLst>
      <p:ext uri="{BB962C8B-B14F-4D97-AF65-F5344CB8AC3E}">
        <p14:creationId xmlns:p14="http://schemas.microsoft.com/office/powerpoint/2010/main" val="2779141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B442A-0A21-4D31-90F7-267A9D7EF5D1}"/>
              </a:ext>
            </a:extLst>
          </p:cNvPr>
          <p:cNvSpPr>
            <a:spLocks noGrp="1"/>
          </p:cNvSpPr>
          <p:nvPr>
            <p:ph type="title"/>
          </p:nvPr>
        </p:nvSpPr>
        <p:spPr>
          <a:xfrm>
            <a:off x="448965" y="2512770"/>
            <a:ext cx="8246070" cy="2748690"/>
          </a:xfrm>
        </p:spPr>
        <p:txBody>
          <a:bodyPr>
            <a:normAutofit/>
          </a:bodyPr>
          <a:lstStyle/>
          <a:p>
            <a:r>
              <a:rPr lang="en-US" sz="4800" dirty="0"/>
              <a:t>THANK YOU!!!</a:t>
            </a:r>
            <a:endParaRPr lang="en-GB" sz="4800" dirty="0"/>
          </a:p>
        </p:txBody>
      </p:sp>
    </p:spTree>
    <p:extLst>
      <p:ext uri="{BB962C8B-B14F-4D97-AF65-F5344CB8AC3E}">
        <p14:creationId xmlns:p14="http://schemas.microsoft.com/office/powerpoint/2010/main" val="345601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891</Words>
  <Application>Microsoft Office PowerPoint</Application>
  <PresentationFormat>On-screen Show (4:3)</PresentationFormat>
  <Paragraphs>94</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Wingdings</vt:lpstr>
      <vt:lpstr>Office Theme</vt:lpstr>
      <vt:lpstr> COVID-19 PANDEMIC SPREAD ANALYSIS</vt:lpstr>
      <vt:lpstr>PROJECT OVERVIEW</vt:lpstr>
      <vt:lpstr>INTRODUCTION</vt:lpstr>
      <vt:lpstr>OBJECTIVES</vt:lpstr>
      <vt:lpstr>RESEARCH QUESTIONS</vt:lpstr>
      <vt:lpstr>METHODOLOGY</vt:lpstr>
      <vt:lpstr>KEY INSIGHTS</vt:lpstr>
      <vt:lpstr>INITIAL SPREAD AND DOUBLING TIME</vt:lpstr>
      <vt:lpstr>INITIAL SPREAD AND DOUBLING TIME</vt:lpstr>
      <vt:lpstr>EARLY CONTAINMENT MEASURES</vt:lpstr>
      <vt:lpstr>GEOGRAPHICAL SPREAD IN INITIAL STAGES</vt:lpstr>
      <vt:lpstr>ONSET OF MORTALITY POST- INITIAL CASES</vt:lpstr>
      <vt:lpstr>MORTALITY RATES BY NUMBERS</vt:lpstr>
      <vt:lpstr>SUMMARY OF KEY FINDINGS</vt:lpstr>
      <vt:lpstr>CONCLUSION</vt:lpstr>
      <vt:lpstr>RECOMMENDATION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2024-12-08T20:31:28Z</dcterms:modified>
</cp:coreProperties>
</file>